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583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Motion Planning for a TurtleBot3 + OpenMANIPULATOR-X Mobile Manipulator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8FE3C8"/>
                </a:solidFill>
                <a:latin typeface="Calibri"/>
              </a:rPr>
              <a:t>Comparison of RRT, RRT* and PRM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D0D5E0"/>
                </a:solidFill>
                <a:latin typeface="Calibri"/>
              </a:rPr>
              <a:t>Subject: Robot Dynamic Control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0D5E0"/>
                </a:solidFill>
                <a:latin typeface="Calibri"/>
              </a:rPr>
              <a:t>Team: Kaviyashree T S, Barath K M, Jyothish S, Nabeeha Naaz H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0D5E0"/>
                </a:solidFill>
                <a:latin typeface="Calibri"/>
              </a:rPr>
              <a:t>Project review  |  14 October 2026</a:t>
            </a:r>
          </a:p>
        </p:txBody>
      </p:sp>
      <p:pic>
        <p:nvPicPr>
          <p:cNvPr id="6" name="Picture 5" descr="ASM00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846320" cy="3460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62E"/>
                </a:solidFill>
                <a:latin typeface="Calibri"/>
              </a:rPr>
              <a:t>•  1  Abstract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62E"/>
                </a:solidFill>
                <a:latin typeface="Calibri"/>
              </a:rPr>
              <a:t>•  2  Background and objectives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62E"/>
                </a:solidFill>
                <a:latin typeface="Calibri"/>
              </a:rPr>
              <a:t>•  3  Literature review, research gap and novelty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62E"/>
                </a:solidFill>
                <a:latin typeface="Calibri"/>
              </a:rPr>
              <a:t>•  4  Methodology: architecture, equations, algorithms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62E"/>
                </a:solidFill>
                <a:latin typeface="Calibri"/>
              </a:rPr>
              <a:t>•  5  Results: simulation of each algorithm and justification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62E"/>
                </a:solidFill>
                <a:latin typeface="Calibri"/>
              </a:rPr>
              <a:t>•  6  Conclusion and future work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62E"/>
                </a:solidFill>
                <a:latin typeface="Calibri"/>
              </a:rPr>
              <a:t>•  7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1.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Goal: study three motion-planning algorithms (RRT, RRT*, PRM) on a mobile manipulator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Built a parametric SolidWorks 2025 model (19 parts, 2 assemblies, gripper) and a ROS 2 Humble package from one spec file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Wrote and simulated each algorithm on the arm; scene where the straight path is blocked; 10 runs each; all succeeded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RRT: fastest (43 ms) but longest paths (4.32 rad)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RRT*: best paths (2.83 rad, 18 % above the 2.40 rad lower bound) with a 10 s budget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PRM: 10.7 s to build the roadmap, 3.64 rad paths, reusable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Next: full MoveIt 2 + OMPL + Gazebo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2.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Mobile manipulation: drive to a place, then work on objects there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TurtleBot3 Waffle Pi: differential drive, LDS-01 LiDAR, Raspberry Pi 4, OpenCR, camera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OpenMANIPULATOR-X: 4-DOF arm + gripper, DYNAMIXEL XM430-W210 servos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The arm needs collision-free paths in joint space, and the search space grows with every joint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Sampling-based planners in OMPL / MoveIt 2 are the usual answer</a:t>
            </a:r>
          </a:p>
        </p:txBody>
      </p:sp>
      <p:pic>
        <p:nvPicPr>
          <p:cNvPr id="7" name="Picture 6" descr="ASM00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4480560" cy="3199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2. 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Build a parametric SolidWorks 2025 model of the TurtleBot3 Waffle Pi with the OpenMANIPULATOR-X, including working revolute joints and a two-finger gripper.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Export it as a STEP file and as a ROS 2 Humble description package (URDF, xacro, STL meshes, RViz launch).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Check that the kinematics, joint limits and inertial values match the official ROBOTIS model.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Explain RRT, RRT* and PRM mathematically, simulate each one on the robot and justify its behaviour.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Compare the three on planning time, path length, success rate and node count.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Get the package ready for the MoveIt 2 + OMPL + Gazebo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3. Literature review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06240"/>
                <a:gridCol w="3840480"/>
              </a:tblGrid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Key findings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Limitations / Research gap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LaValle (1998)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Rapidly-exploring random trees: a new tool for path planning [1]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Introduced RRT: a tree grown by sampling random states and extending the nearest node. Probabilistically complete, works in high-dimensional spaces, very quick to a first path.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Paths are jagged and not optimal; behaviour depends on step size and distance metric.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Kavraki et al. (1996)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Probabilistic roadmaps for path planning in high-dimensional configuration spaces [2]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Introduced PRM: build a roadmap of free configurations once, then answer many queries by graph search. Good for static scenes and many goals.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Roadmap construction is costly; narrow passages are hard; roadmap must be rebuilt if obstacles move.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Kuffner &amp; LaValle (2000)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RRT-Connect: an efficient approach to single-query path planning [4]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Grows two trees (from start and goal) that try to connect greedily; much faster than basic RRT on manipulator-type problems.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Still not optimal, so paths need post-smoothing; only for problems where two states can be connected directly.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Karaman &amp; Frazzoli (2011)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Sampling-based algorithms for optimal motion planning [3]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Showed that RRT and PRM are not asymptotically optimal; proposed RRT* and PRM*, which converge to the optimal path with the same asymptotic complexity.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Convergence can be slow in higher dimensions; extra cost per sample from neighbour search and rewiring; radius needs tuning.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3. Literature review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06240"/>
                <a:gridCol w="3840480"/>
              </a:tblGrid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Key findings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Limitations / Research gap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Gammell et al. (2014)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Informed RRT* [13]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After the first solution, samples only inside an ellipsoid that can still improve it, so the path converges faster than RRT*.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Needs a first solution; advantage shrinks as dimension grows; assumes a simple distance-based cost.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Sucan et al. (2012)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The Open Motion Planning Library [5]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Common C++ interface to many planners (RRT, RRT*, PRM and more) with benchmarking tools; it is the planning back-end of MoveIt.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Generic library: results depend on the robot model, collision checker and parameters chosen by the user.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Chitta et al. (2012)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MoveIt! [6]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Brings kinematics, collision checking, planning and execution together for manipulators in ROS.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Needs per-robot configuration; arm-centred, so planning base and arm together takes extra set-up.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3. Literature review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206240"/>
                <a:gridCol w="3840480"/>
              </a:tblGrid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Key findings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Limitations / Research gap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Macenski et al. (2022)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Robot Operating System 2 [7]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Describes ROS 2 design: DDS communication, real-time support, multi-robot use and security.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General framework with no manipulation-specific planning comparison.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Koenig &amp; Howard (2004)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Design and use paradigms for Gazebo [8]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Open-source simulator with physics and sensor models, widely used to test robots before hardware.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Simulation-to-real gap; results are only as good as the URDF, inertia and friction values supplied.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62E"/>
                          </a:solidFill>
                        </a:rPr>
                        <a:t>ROBOTIS (e-Manual, GitHub) [11], [12]</a:t>
                      </a:r>
                    </a:p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turtlebot3_manipulation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Official URDF, MoveIt configuration and Gazebo files for the TurtleBot3 + OpenMANIPULATOR-X.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62E"/>
                          </a:solidFill>
                        </a:rPr>
                        <a:t>No editable parametric CAD source and no planner comparison; meshes are fixed.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3.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22262E"/>
                </a:solidFill>
                <a:latin typeface="Calibri"/>
              </a:rPr>
              <a:t>•  Many planner studies use fixed-base industrial arms rather than a small ROS 2 mobile manipulator.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22262E"/>
                </a:solidFill>
                <a:latin typeface="Calibri"/>
              </a:rPr>
              <a:t>•  Papers compare algorithms in general, but give no editable CAD-to-URDF model of the TurtleBot3 + OpenMANIPULATOR-X to repeat the study on.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22262E"/>
                </a:solidFill>
                <a:latin typeface="Calibri"/>
              </a:rPr>
              <a:t>•  The official ROBOTIS package gives the model and a working MoveIt setup, but no side-by-side RRT / RRT* / PRM comparison and no parametric CAD.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22262E"/>
                </a:solidFill>
                <a:latin typeface="Calibri"/>
              </a:rPr>
              <a:t>•  RRT, RRT* and PRM are often explained through theory and generic benchmarks; we also show each one running on the same robot with the same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3. Novelty of this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One specification file (robot_spec.py) generates both the SolidWorks model and the URDF, so geometry and kinematics cannot drift apart. Changing one parameter, e.g. forearm length, updates the CAD and the simulation model together.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A fully parametric SolidWorks 2025 model of the TurtleBot3 Waffle Pi + OpenMANIPULATOR-X (19 parts, working joint mates, two-finger gripper) with a drop-in ROS 2 package for MoveIt 2 and Gazebo.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A like-for-like comparison of RRT, RRT* and PRM on this robot: same kinematics, same collision model, same start/goal and same metrics, with a simulation and a written justification for each algorithm.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A reproducible benchmark script that the team can re-run, and a clear path to repeat the same study in MoveIt 2 / OMPL / Gazebo.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To the best of our knowledge, based on the sources reviewed.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arch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51560"/>
            <a:ext cx="949735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Planning pipeline used in the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arch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1701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754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Collision checker: forward kinematics -&gt; link capsules (r = 25 mm) vs obstacle spheres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Metrics: success, time to first solution, joint-space path length, node count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Methodology: CAD and ROS 2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19 parametric parts: TB01-TB13 (TurtleBot3), OM01-OM06 (arm)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Dimensions tied to Global Variables, e.g. J3_Z, J4_X, Hole_P, Tire_D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Joints 1-4: real revolute mates; fingers: slider mates (6-64 mm opening)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URDF generated from the same spec file, so CAD and URDF stay in step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Same link / joint names as the official package</a:t>
            </a:r>
          </a:p>
        </p:txBody>
      </p:sp>
      <p:pic>
        <p:nvPicPr>
          <p:cNvPr id="7" name="Picture 6" descr="ASM00_gripper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4937760" cy="35262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Kinematic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8813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560320"/>
                <a:gridCol w="822960"/>
                <a:gridCol w="274320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Joint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Parent -&gt; child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Origin (m)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Axis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Limits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base_fixed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base_link -&gt; link1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(-0.092, 0, 0.091)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-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fixed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joint1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link1 -&gt; link2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(0.012, 0, 0.017)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z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+/-0.9 pi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joint2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link2 -&gt; link3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(0, 0, 0.0595)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y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-0.57 pi ... 0.5 pi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joint3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link3 -&gt; link4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(0.024, 0, 0.128)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-0.3 pi ... 0.44 pi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joint4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link4 -&gt; link5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(0.124, 0, 0)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y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-0.57 pi ... 0.65 pi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gripper_left/right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link5 -&gt; finger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(0.0817, +/-0.021, 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+/-y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-0.010 ... 0.019 m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end_effector_joint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link5 -&gt; tool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(0.126, 0, 0)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-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fixed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wheel_left/right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base_link -&gt; wheel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(0, +/-0.144, 0.023)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z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E"/>
                          </a:solidFill>
                        </a:rPr>
                        <a:t>continuous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Same as turtlebot3_manipulation_description (ROS 2 Humble); checked automatically.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Equations (1/4): kinematics and free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Forward kinematics</a:t>
            </a:r>
          </a:p>
        </p:txBody>
      </p:sp>
      <p:pic>
        <p:nvPicPr>
          <p:cNvPr id="7" name="Picture 6" descr="eq_f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1328"/>
            <a:ext cx="5933209" cy="8052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496935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Joint rotations</a:t>
            </a:r>
          </a:p>
        </p:txBody>
      </p:sp>
      <p:pic>
        <p:nvPicPr>
          <p:cNvPr id="9" name="Picture 8" descr="eq_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89543"/>
            <a:ext cx="7767204" cy="132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3246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Free configuration space</a:t>
            </a:r>
          </a:p>
        </p:txBody>
      </p:sp>
      <p:pic>
        <p:nvPicPr>
          <p:cNvPr id="11" name="Picture 10" descr="eq_cf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17304"/>
            <a:ext cx="8286750" cy="410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Equations (2/4): collision, cost and RRT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Point-to-segment distance (collision test)</a:t>
            </a:r>
          </a:p>
        </p:txBody>
      </p:sp>
      <p:pic>
        <p:nvPicPr>
          <p:cNvPr id="7" name="Picture 6" descr="eq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1328"/>
            <a:ext cx="3782290" cy="592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28392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Path length (cost)</a:t>
            </a:r>
          </a:p>
        </p:txBody>
      </p:sp>
      <p:pic>
        <p:nvPicPr>
          <p:cNvPr id="9" name="Picture 8" descr="eq_l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6529"/>
            <a:ext cx="2888672" cy="8052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592137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RRT: extend towards a random sample</a:t>
            </a:r>
          </a:p>
        </p:txBody>
      </p:sp>
      <p:pic>
        <p:nvPicPr>
          <p:cNvPr id="11" name="Picture 10" descr="eq_ste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4745"/>
            <a:ext cx="6177395" cy="6546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7496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RRT*: choose the cheapest parent</a:t>
            </a:r>
          </a:p>
        </p:txBody>
      </p:sp>
      <p:pic>
        <p:nvPicPr>
          <p:cNvPr id="13" name="Picture 12" descr="eq_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42292"/>
            <a:ext cx="4707081" cy="5507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Equations (3/4): RRT* and PRM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RRT*: rewire neighbours</a:t>
            </a:r>
          </a:p>
        </p:txBody>
      </p:sp>
      <p:pic>
        <p:nvPicPr>
          <p:cNvPr id="7" name="Picture 6" descr="eq_re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1328"/>
            <a:ext cx="5850081" cy="41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10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RRT*: neighbour radius</a:t>
            </a:r>
          </a:p>
        </p:txBody>
      </p:sp>
      <p:pic>
        <p:nvPicPr>
          <p:cNvPr id="9" name="Picture 8" descr="eq_radi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94688"/>
            <a:ext cx="6728113" cy="6961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30119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RRT*: asymptotic optimality</a:t>
            </a:r>
          </a:p>
        </p:txBody>
      </p:sp>
      <p:pic>
        <p:nvPicPr>
          <p:cNvPr id="11" name="Picture 10" descr="eq_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93799"/>
            <a:ext cx="3454977" cy="5091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31326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PRM: roadmap edges</a:t>
            </a:r>
          </a:p>
        </p:txBody>
      </p:sp>
      <p:pic>
        <p:nvPicPr>
          <p:cNvPr id="13" name="Picture 12" descr="eq_p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605874"/>
            <a:ext cx="6920345" cy="4260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Equations (4/4): PRM query and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PRM: Dijkstra query</a:t>
            </a:r>
          </a:p>
        </p:txBody>
      </p:sp>
      <p:pic>
        <p:nvPicPr>
          <p:cNvPr id="7" name="Picture 6" descr="eq_di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1328"/>
            <a:ext cx="4888922" cy="52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2215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Manipulator dynamics (tracking the planned path)</a:t>
            </a:r>
          </a:p>
        </p:txBody>
      </p:sp>
      <p:pic>
        <p:nvPicPr>
          <p:cNvPr id="9" name="Picture 8" descr="eq_dy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184"/>
            <a:ext cx="3543300" cy="4260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15052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Computed-torque control</a:t>
            </a:r>
          </a:p>
        </p:txBody>
      </p:sp>
      <p:pic>
        <p:nvPicPr>
          <p:cNvPr id="11" name="Picture 10" descr="eq_ct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43131"/>
            <a:ext cx="6816436" cy="4520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Dynamics are shown for context; they are not simulated in this review.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The three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4937760"/>
          </a:xfrm>
          <a:prstGeom prst="roundRect">
            <a:avLst/>
          </a:prstGeom>
          <a:solidFill>
            <a:srgbClr val="F3F5F8"/>
          </a:solidFill>
          <a:ln>
            <a:solidFill>
              <a:srgbClr val="1B9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9E77"/>
                </a:solidFill>
                <a:latin typeface="Calibri"/>
              </a:rPr>
              <a:t>RRT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1. Start the tree T with q_s.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2. Sample q_rand in the joint limits (with probability 0.1 take q_g instead).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3. Find the nearest node q_near in T and step towards q_rand to get q_new (Eq. 6).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4. If the segment q_near -&gt; q_new is collision-free, add q_new to 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5. If q_new can reach q_g, stop and read the path back through the parents.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4937760"/>
          </a:xfrm>
          <a:prstGeom prst="roundRect">
            <a:avLst/>
          </a:prstGeom>
          <a:solidFill>
            <a:srgbClr val="F3F5F8"/>
          </a:solidFill>
          <a:ln>
            <a:solidFill>
              <a:srgbClr val="1B9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9E77"/>
                </a:solidFill>
                <a:latin typeface="Calibri"/>
              </a:rPr>
              <a:t>RRT*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1. Steps 1-3 as in RRT.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2. Collect the neighbours Q_near within radius r_n (Eq. 9).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3. Choose the parent that gives the lowest cost-to-come (Eq. 7).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4. Rewire: for each neighbour, if going through q_new is cheaper, make q_new its parent (Eq. 8).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5. Do not stop at the first solution; keep sampling until the time budget ends and keep the cheapest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657600" cy="4937760"/>
          </a:xfrm>
          <a:prstGeom prst="roundRect">
            <a:avLst/>
          </a:prstGeom>
          <a:solidFill>
            <a:srgbClr val="F3F5F8"/>
          </a:solidFill>
          <a:ln>
            <a:solidFill>
              <a:srgbClr val="1B9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34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9E77"/>
                </a:solidFill>
                <a:latin typeface="Calibri"/>
              </a:rPr>
              <a:t>PRM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1. Learning phase: sample N collision-free configurations (plus q_s and q_g).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2. Connect each node to its k nearest neighbours if the straight segment is free (Eq. 11).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3. Query phase: run Dijkstra from q_s to q_g over the roadmap (Eq. 12).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62E"/>
                </a:solidFill>
                <a:latin typeface="Calibri"/>
              </a:rPr>
              <a:t>•  4. If no path exists, add more nodes and repeat.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4. Benchmark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Python implementation of FK, capsule collision check and the three planners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3 spherical obstacles; straight line start-to-goal is blocked (checked), so a detour is required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Start (-1.2, -0.2, 0.6, 0.3) to goal (1.2, -0.2, 0.6, 0.3) rad; lower bound 2.40 rad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RRT: step 0.4 rad, 10 % goal bias, stop at first solution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RRT*: same step, rewiring, 10 s budget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PRM: 1500 nodes, k = 10, Dijkstra query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10 runs per planner; metrics: success, time, path length, nodes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Results: CAD and ROS 2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ASM00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657600" cy="2612020"/>
          </a:xfrm>
          <a:prstGeom prst="rect">
            <a:avLst/>
          </a:prstGeom>
        </p:spPr>
      </p:pic>
      <p:pic>
        <p:nvPicPr>
          <p:cNvPr id="7" name="Picture 6" descr="ASM00_s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657600" cy="2612020"/>
          </a:xfrm>
          <a:prstGeom prst="rect">
            <a:avLst/>
          </a:prstGeom>
        </p:spPr>
      </p:pic>
      <p:pic>
        <p:nvPicPr>
          <p:cNvPr id="8" name="Picture 7" descr="ASM00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657600" cy="26120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114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19 parts, 2 assemblies, 1 STEP file, 19 STL meshes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Standalone URDF (20 links, 19 joints) and a drop-in xacro for Gazebo / ros2_control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62E"/>
                </a:solidFill>
                <a:latin typeface="Calibri"/>
              </a:rPr>
              <a:t>•  RViz launch with joint sliders; MoveIt 2 and Nav2 configs work unchanged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Results: arm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3165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Max reach from arm base (link1): 45.0 cm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Max height above floor: 55.1 cm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Max forward reach: 28.3 cm from base_link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20 000 sampled configurations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Simulation: RRT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23</a:t>
            </a:r>
          </a:p>
        </p:txBody>
      </p:sp>
      <p:pic>
        <p:nvPicPr>
          <p:cNvPr id="6" name="Picture 5" descr="sim_r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3410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72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2262E"/>
                </a:solidFill>
                <a:latin typeface="Calibri"/>
              </a:rPr>
              <a:t>•  Tree of only 39 nodes in this run (43 ms on average over 10 runs)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62E"/>
                </a:solidFill>
                <a:latin typeface="Calibri"/>
              </a:rPr>
              <a:t>•  Path 4.32 +/- 0.54 rad: 80 % above the lower bound, jagged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62E"/>
                </a:solidFill>
                <a:latin typeface="Calibri"/>
              </a:rPr>
              <a:t>•  Why: it extends towards the nearest node and stops at the first connection, so it is fast but never improves the path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Simulation: RRT*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24</a:t>
            </a:r>
          </a:p>
        </p:txBody>
      </p:sp>
      <p:pic>
        <p:nvPicPr>
          <p:cNvPr id="6" name="Picture 5" descr="sim_rrt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3410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72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2262E"/>
                </a:solidFill>
                <a:latin typeface="Calibri"/>
              </a:rPr>
              <a:t>•  About 1661 nodes after 10 s; first path after 87 ms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62E"/>
                </a:solidFill>
                <a:latin typeface="Calibri"/>
              </a:rPr>
              <a:t>•  Path 2.83 +/- 0.28 rad: only 18 % above the lower bound, smooth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62E"/>
                </a:solidFill>
                <a:latin typeface="Calibri"/>
              </a:rPr>
              <a:t>•  Why: best-parent choice and rewiring remove detours; cost is paid in computation (tree about 46x larger than RRT)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RRT* improves with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25</a:t>
            </a:r>
          </a:p>
        </p:txBody>
      </p:sp>
      <p:pic>
        <p:nvPicPr>
          <p:cNvPr id="6" name="Picture 5" descr="rrtstar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949440" cy="41696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62E"/>
                </a:solidFill>
                <a:latin typeface="Calibri"/>
              </a:rPr>
              <a:t>•  Each curve starts at the first path and steps down as rewiring finds shorter routes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2E"/>
                </a:solidFill>
                <a:latin typeface="Calibri"/>
              </a:rPr>
              <a:t>•  The straight line (2.40 rad) is blocked, so the true optimum is above it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2E"/>
                </a:solidFill>
                <a:latin typeface="Calibri"/>
              </a:rPr>
              <a:t>•  Can be stopped at any time and still returns a valid path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Simulation: PRM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26</a:t>
            </a:r>
          </a:p>
        </p:txBody>
      </p:sp>
      <p:pic>
        <p:nvPicPr>
          <p:cNvPr id="6" name="Picture 5" descr="sim_p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3410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72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2262E"/>
                </a:solidFill>
                <a:latin typeface="Calibri"/>
              </a:rPr>
              <a:t>•  1500 nodes, 7417 edges in this run; 10.7 s to build, then a graph search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62E"/>
                </a:solidFill>
                <a:latin typeface="Calibri"/>
              </a:rPr>
              <a:t>•  Path 3.64 +/- 0.27 rad: limited to roadmap edges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2262E"/>
                </a:solidFill>
                <a:latin typeface="Calibri"/>
              </a:rPr>
              <a:t>•  Why: effort is spent up front; later queries in the same static scene are almost free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PRM: effect of roadmap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Nodes 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Build + query (s)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Mean path length (rad)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10/10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1.4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4.13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250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10/10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2.7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4.22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500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10/10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4.5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3.81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10/10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7.5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3.50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1500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10/10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10.7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3.64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3716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62E"/>
                </a:solidFill>
                <a:latin typeface="Calibri"/>
              </a:rPr>
              <a:t>•  Build time rises steadily with 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62E"/>
                </a:solidFill>
                <a:latin typeface="Calibri"/>
              </a:rPr>
              <a:t>•  Path length tends to fall as N grows, but neighbouring sizes differ by less than the run-to-run spread (about 0.27 rad)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62E"/>
                </a:solidFill>
                <a:latin typeface="Calibri"/>
              </a:rPr>
              <a:t>•  All sizes solved the problem 10/10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Results: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881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194560"/>
                <a:gridCol w="2194560"/>
                <a:gridCol w="2011680"/>
                <a:gridCol w="1280160"/>
              </a:tblGrid>
              <a:tr h="411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First solution (ms)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Path length (rad)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Above lower bound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Nodes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RRT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10/10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43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4.32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80 %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36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RRT*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10/10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87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2.83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18 %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1661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PRM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10/10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10694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3.64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52 %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62E"/>
                          </a:solidFill>
                        </a:rPr>
                        <a:t>1500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00400"/>
            <a:ext cx="7863840" cy="24306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356616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62E"/>
                </a:solidFill>
                <a:latin typeface="Calibri"/>
              </a:rPr>
              <a:t>•  RRT: fastest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2E"/>
                </a:solidFill>
                <a:latin typeface="Calibri"/>
              </a:rPr>
              <a:t>•  RRT*: shortest, most repeatable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2E"/>
                </a:solidFill>
                <a:latin typeface="Calibri"/>
              </a:rPr>
              <a:t>•  PRM: slow build, reusable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Our own Python implementation (not OMPL); mean of 10 runs. PRM time = roadmap build + query.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Justification: which algorithm when?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206240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Best used when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Trade-off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62E"/>
                          </a:solidFill>
                        </a:rPr>
                        <a:t>RRT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62E"/>
                          </a:solidFill>
                        </a:rPr>
                        <a:t>One-off motion, need an answer fast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62E"/>
                          </a:solidFill>
                        </a:rPr>
                        <a:t>Paths long and jagged; no improvement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62E"/>
                          </a:solidFill>
                        </a:rPr>
                        <a:t>RRT*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62E"/>
                          </a:solidFill>
                        </a:rPr>
                        <a:t>One-off motion, path quality matters; default for this robot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62E"/>
                          </a:solidFill>
                        </a:rPr>
                        <a:t>Uses full time budget; larger tree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62E"/>
                          </a:solidFill>
                        </a:rPr>
                        <a:t>PRM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62E"/>
                          </a:solidFill>
                        </a:rPr>
                        <a:t>Repeated moves in a fixed scene (workstation)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62E"/>
                          </a:solidFill>
                        </a:rPr>
                        <a:t>Slow first query; rebuild if obstacles move</a:t>
                      </a:r>
                    </a:p>
                  </a:txBody>
                  <a:tcPr marT="27432" marB="2743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06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Mobile manipulator arrives at new places, so the scene changes: RRT / RRT* fit best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62E"/>
                </a:solidFill>
                <a:latin typeface="Calibri"/>
              </a:rPr>
              <a:t>•  The MoveIt 2 study will test whether RRT* stays the best default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5.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62E"/>
                </a:solidFill>
                <a:latin typeface="Calibri"/>
              </a:rPr>
              <a:t>•  Simple scene (3 spheres); fixed base; no self-collision, gripper fingers or mesh collision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2E"/>
                </a:solidFill>
                <a:latin typeface="Calibri"/>
              </a:rPr>
              <a:t>•  Our own Python planners, not OMPL: times not comparable with MoveIt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2E"/>
                </a:solidFill>
                <a:latin typeface="Calibri"/>
              </a:rPr>
              <a:t>•  10 runs per planner: rough picture of the spread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2E"/>
                </a:solidFill>
                <a:latin typeface="Calibri"/>
              </a:rPr>
              <a:t>•  Dynamics shown as equations only, not simulated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2E"/>
                </a:solidFill>
                <a:latin typeface="Calibri"/>
              </a:rPr>
              <a:t>•  So: repeat in MoveIt 2 + OMPL + Gazebo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6. 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62E"/>
                </a:solidFill>
                <a:latin typeface="Calibri"/>
              </a:rPr>
              <a:t>•  Delivered: parametric CAD + ROS 2 model whose kinematics match the official robot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2E"/>
                </a:solidFill>
                <a:latin typeface="Calibri"/>
              </a:rPr>
              <a:t>•  Simulated and justified RRT, RRT* and PRM on it: RRT quickest, RRT* best paths, PRM reusable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2E"/>
                </a:solidFill>
                <a:latin typeface="Calibri"/>
              </a:rPr>
              <a:t>•  Next: MoveIt 2 + OMPL + Gazebo (RRTkConfigDefault, RRTstarkConfigDefault, PRMkConfigDefault)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62E"/>
                </a:solidFill>
                <a:latin typeface="Calibri"/>
              </a:rPr>
              <a:t>•  Next: RRT-Connect, Informed RRT*, arm dynamics with computed-torque control, base + arm planning, real-robot pick-and-place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7.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[1] S. M. LaValle, "Rapidly-exploring random trees: A new tool for path planning," Tech. Rep. TR 98-11, Computer Science Dept., Iowa State University, 1998.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[2] L. E. Kavraki, P. Svestka, J.-C. Latombe and M. H. Overmars, "Probabilistic roadmaps for path planning in high-dimensional configuration spaces," IEEE Trans. Robotics and Automation, vol. 12, no. 4, pp. 566-580, 1996.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[3] S. Karaman and E. Frazzoli, "Sampling-based algorithms for optimal motion planning," Int. J. Robotics Research, vol. 30, no. 7, pp. 846-894, 2011.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[4] J. J. Kuffner and S. M. LaValle, "RRT-Connect: An efficient approach to single-query path planning," Proc. IEEE ICRA, pp. 995-1001, 2000.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[5] I. A. Sucan, M. Moll and L. E. Kavraki, "The Open Motion Planning Library," IEEE Robotics &amp; Automation Magazine, vol. 19, no. 4, pp. 72-82, 2012.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[6] S. Chitta, I. Sucan and S. Cousins, "MoveIt!," IEEE Robotics &amp; Automation Magazine, vol. 19, no. 1, pp. 18-19, 2012.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[7] S. Macenski, T. Foote, B. Gerkey, C. Lalancette and W. Woodall, "Robot Operating System 2: Design, architecture, and uses in the wild," Science Robotics, vol. 7, no. 66, 2022.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[8] N. Koenig and A. Howard, "Design and use paradigms for Gazebo, an open-source multi-robot simulator," Proc. IEEE/RSJ IROS, pp. 2149-2154, 2004.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[9] S. Macenski, F. Martin, R. White and J. G. Clavero, "The Marathon 2: A Navigation System," Proc. IEEE/RSJ IROS, 2020.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[10] B. Siciliano, L. Sciavicco, L. Villani and G. Oriolo, Robotics: Modelling, Planning and Control. Springer, 2009.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[11] ROBOTIS Co., Ltd., "TurtleBot3 and OpenMANIPULATOR-X e-Manual," https://emanual.robotis.com (accessed 2026).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[12] ROBOTIS-GIT, "turtlebot3_manipulation" (ROS 2 Humble branch), https://github.com/ROBOTIS-GIT/turtlebot3_manipulation.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22262E"/>
                </a:solidFill>
              </a:rPr>
              <a:t>[13] J. D. Gammell, S. S. Srinivasa and T. D. Barfoot, "Informed RRT*: Optimal sampling-based path planning focused via direct sampling of an admissible ellipsoidal heuristic," Proc. IEEE/RSJ IROS, pp. 2997-3004, 2014.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9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2A44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Motion Planning for a Mobile Manipulator  |  Project review, 14.10.2026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1F2A44"/>
                </a:solidFill>
                <a:latin typeface="Calibri"/>
              </a:rP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